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044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4B991F-DA04-4EBA-B183-7AB343A58533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82E4C-2469-4F55-A594-28084F6799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6580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82E4C-2469-4F55-A594-28084F67995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8463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82E4C-2469-4F55-A594-28084F67995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7268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133AF3-DA46-6D31-3B4D-FAA26F5636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90BEA04-0C4F-D60D-8A04-4E462D417D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955F40-2D6F-EE59-03E9-2B6A6FBB3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F8C98-B10E-481D-9108-84182421AB7E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01C383-1C56-81FB-0E36-B5286574D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94C60E-427E-0B77-8C5F-8CA02D469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4FEDF-3AFD-473B-A8F3-9ECC6D1E0F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0056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BF6D55-5DC3-CFF6-8D37-BB2B34A9E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F1FA8A-F412-ECEE-E1FF-C99224967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D87007-E76E-08EA-FEBE-95A1C1FFE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F8C98-B10E-481D-9108-84182421AB7E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EA9B2C-0BFD-BA5A-0C90-67B44A8D8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7CC637-3BE7-62ED-8400-E42BD922E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4FEDF-3AFD-473B-A8F3-9ECC6D1E0F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7612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D6879B-6FEA-12EE-1935-AE9D73F95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A7147D-9788-ADF4-53BA-133FBB20B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F51A99-8A0B-D015-639B-40C01512E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F8C98-B10E-481D-9108-84182421AB7E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D9598FC-7DA2-8D8D-1533-31FD2E2E9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2FA530-23A4-68DF-FAE6-B004DC57D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4FEDF-3AFD-473B-A8F3-9ECC6D1E0F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5352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A9B312-4D6B-BC51-14C5-4B4CA98D9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EA31FE-EC88-B52E-658E-BA4C73F0AD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3E053BF-D156-409C-3757-34BEC8629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00F4CC9-E9C0-C0E0-0E56-1D7FECCA6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F8C98-B10E-481D-9108-84182421AB7E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A7BBA29-75D9-14D1-F539-CBEC6BAC7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BF58148-0EA0-71BB-2E56-D68227E59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4FEDF-3AFD-473B-A8F3-9ECC6D1E0F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1546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A668C2-C3AE-7B5D-656D-79AD44C49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4FD59E-C9EE-425F-8C0E-101C54CF3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6021D8E-959D-3A96-9FD4-6561E614E6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DD7567F-3422-9B1D-A7A1-8596B3949A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9F52BC9-D208-BFE5-8F50-10F4C8A048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A574D2B-4260-7614-157A-E7D4AE337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F8C98-B10E-481D-9108-84182421AB7E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DC8A8AE-247E-FA3C-E6D3-A61950AD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F71C1EF-1BD4-3AD0-BCDC-7633044B2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4FEDF-3AFD-473B-A8F3-9ECC6D1E0F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6548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03ACFF-BAD3-78E7-FB40-B307FCD04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050D91E-8826-3665-369F-D80C2DB08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F8C98-B10E-481D-9108-84182421AB7E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7D9EDD0-5B65-9CB7-9830-A673E84A6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FE4F6F7-C27E-E48C-57C6-9FBD9B47F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4FEDF-3AFD-473B-A8F3-9ECC6D1E0F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2124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29C0779-BB98-201D-8225-75ED55BC9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F8C98-B10E-481D-9108-84182421AB7E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E7D9B52-5CCE-177B-8491-0C52A1789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AF48F69-6AFE-0078-8609-4B6A26E9C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4FEDF-3AFD-473B-A8F3-9ECC6D1E0F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2406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2E31AA-2076-6967-5784-7E5783303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15C37E-A267-C4D4-2A49-7D50B0E9E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E606B1-7197-EF6A-65AE-F2B7610DA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759D33D-733B-4CB2-F5EB-144A473BD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F8C98-B10E-481D-9108-84182421AB7E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6045511-6533-5CAA-E535-16EA78A3A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E42477-AED6-62A8-BB6B-075C995BF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4FEDF-3AFD-473B-A8F3-9ECC6D1E0F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45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95DEB9-5FA3-65E0-6221-70F276794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82E35D9-57AA-8CFA-A5D9-487D07F825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25D0431-D604-5B39-E4AF-1DDACF43D6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0D61BE6-8475-F645-8198-B8AC5E1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F8C98-B10E-481D-9108-84182421AB7E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1FC61F2-784B-9B90-FDE6-E1622598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759EFB2-EF9B-A359-DAE8-D885A79B8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4FEDF-3AFD-473B-A8F3-9ECC6D1E0F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9609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383E31-38EE-6C9D-5448-DE156C5CE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8001142-00A8-7B58-19BC-4B7BC311D5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8B8133-449F-3414-A449-5ACAD6647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F8C98-B10E-481D-9108-84182421AB7E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E579A8-2539-4C8C-2CE7-E88B767B5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BD679B-9924-4D75-A6CB-12A2E3A4D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4FEDF-3AFD-473B-A8F3-9ECC6D1E0F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0421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2252D19-83D7-7381-1636-42D9112435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6C53E50-2C7A-7D56-0060-69D7B7DAE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45E2BC-4C4D-DF4D-D0DA-F40F1E594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F8C98-B10E-481D-9108-84182421AB7E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61E2E4-A3E4-EF4E-A5A9-F953C2F84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78FE1D-9E3D-B8B6-D071-8A61908CC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4FEDF-3AFD-473B-A8F3-9ECC6D1E0F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2185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CC0119-BB1F-EC7D-32FF-DBCEB06FE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26A7800-8794-8102-510E-7855315F5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BE2CAA-E726-AEA7-E2EB-97D1E8BAC1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1F8C98-B10E-481D-9108-84182421AB7E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2CDCF45-DE53-9976-2EC3-52EC59CDCC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9B261B-EB21-A90F-B69C-62D3C7051D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C4FEDF-3AFD-473B-A8F3-9ECC6D1E0F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6760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4.wdp"/><Relationship Id="rId5" Type="http://schemas.openxmlformats.org/officeDocument/2006/relationships/image" Target="../media/image7.png"/><Relationship Id="rId4" Type="http://schemas.microsoft.com/office/2007/relationships/hdphoto" Target="../media/hdphoto3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6.wdp"/><Relationship Id="rId5" Type="http://schemas.openxmlformats.org/officeDocument/2006/relationships/image" Target="../media/image10.png"/><Relationship Id="rId4" Type="http://schemas.microsoft.com/office/2007/relationships/hdphoto" Target="../media/hdphoto5.wdp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7" Type="http://schemas.microsoft.com/office/2007/relationships/hdphoto" Target="../media/hdphoto9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microsoft.com/office/2007/relationships/hdphoto" Target="../media/hdphoto8.wdp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0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1.wdp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23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12.wdp"/><Relationship Id="rId5" Type="http://schemas.openxmlformats.org/officeDocument/2006/relationships/image" Target="../media/image29.png"/><Relationship Id="rId4" Type="http://schemas.openxmlformats.org/officeDocument/2006/relationships/image" Target="../media/image2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6" name="Rectangle 1065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12D1B47-AA75-0BE9-88CF-021D1A068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18" b="39867"/>
          <a:stretch>
            <a:fillRect/>
          </a:stretch>
        </p:blipFill>
        <p:spPr bwMode="auto">
          <a:xfrm>
            <a:off x="2522358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8" name="Rectangle 1067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BEA225-F12E-449E-1C2B-32DA188DDE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335" y="1609721"/>
            <a:ext cx="3547582" cy="3202911"/>
          </a:xfrm>
          <a:noFill/>
        </p:spPr>
        <p:txBody>
          <a:bodyPr>
            <a:normAutofit/>
          </a:bodyPr>
          <a:lstStyle/>
          <a:p>
            <a:pPr algn="l"/>
            <a:r>
              <a:rPr lang="ru-RU" sz="4400" b="1" dirty="0"/>
              <a:t>Михаил Юрьевич Лермонтов</a:t>
            </a:r>
            <a:br>
              <a:rPr lang="ru-RU" sz="4400" dirty="0"/>
            </a:br>
            <a:r>
              <a:rPr lang="ru-RU" sz="4400" b="1" dirty="0"/>
              <a:t>(1814 – 1841)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190663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Государственный музей-заповедник &quot;Тарханы&quot;">
            <a:extLst>
              <a:ext uri="{FF2B5EF4-FFF2-40B4-BE49-F238E27FC236}">
                <a16:creationId xmlns:a16="http://schemas.microsoft.com/office/drawing/2014/main" id="{850DBEE9-A334-F6B4-B6DF-9F14C1559C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82" r="14706" b="-1"/>
          <a:stretch>
            <a:fillRect/>
          </a:stretch>
        </p:blipFill>
        <p:spPr bwMode="auto">
          <a:xfrm>
            <a:off x="-3047" y="-174410"/>
            <a:ext cx="9985259" cy="7081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7" name="Rectangle 205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91C110-F23F-8057-18C2-7B7A1327E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5766" y="779937"/>
            <a:ext cx="2238033" cy="1336878"/>
          </a:xfrm>
        </p:spPr>
        <p:txBody>
          <a:bodyPr>
            <a:normAutofit/>
          </a:bodyPr>
          <a:lstStyle/>
          <a:p>
            <a:pPr algn="r"/>
            <a:r>
              <a:rPr lang="ru-RU" sz="4000" b="1" dirty="0"/>
              <a:t>Детство</a:t>
            </a:r>
            <a:br>
              <a:rPr lang="ru-RU" sz="4000" b="1" dirty="0"/>
            </a:b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314443-1036-48B9-2B91-BB5AE56C9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0288" y="2335301"/>
            <a:ext cx="3822189" cy="3742762"/>
          </a:xfrm>
        </p:spPr>
        <p:txBody>
          <a:bodyPr>
            <a:normAutofit/>
          </a:bodyPr>
          <a:lstStyle/>
          <a:p>
            <a:pPr algn="ctr"/>
            <a:r>
              <a:rPr lang="ru-RU" sz="2000" dirty="0"/>
              <a:t>Родился: 3 (15) октября 1814 года в Москве.</a:t>
            </a:r>
          </a:p>
          <a:p>
            <a:pPr algn="ctr"/>
            <a:r>
              <a:rPr lang="ru-RU" sz="2000" dirty="0"/>
              <a:t>Родители: Юрий Петрович (офицер) и Мария Михайловна (из рода Столыпиных).</a:t>
            </a:r>
          </a:p>
          <a:p>
            <a:pPr algn="ctr"/>
            <a:r>
              <a:rPr lang="ru-RU" sz="2000" dirty="0"/>
              <a:t>1817 год — смерть матери.</a:t>
            </a:r>
          </a:p>
          <a:p>
            <a:pPr algn="ctr"/>
            <a:endParaRPr lang="ru-RU" sz="2000" dirty="0"/>
          </a:p>
        </p:txBody>
      </p:sp>
      <p:pic>
        <p:nvPicPr>
          <p:cNvPr id="3076" name="Picture 4" descr="Е.А. Арсеньева - Государственный Лермонтовский музей-заповедник «Тарханы»">
            <a:extLst>
              <a:ext uri="{FF2B5EF4-FFF2-40B4-BE49-F238E27FC236}">
                <a16:creationId xmlns:a16="http://schemas.microsoft.com/office/drawing/2014/main" id="{BB8CC560-B58F-5873-829D-F65D9FF33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875" b="99375" l="4781" r="98805">
                        <a14:foregroundMark x1="54582" y1="7500" x2="44622" y2="43750"/>
                        <a14:foregroundMark x1="44622" y1="43750" x2="4781" y2="87813"/>
                        <a14:foregroundMark x1="4781" y1="87813" x2="24701" y2="93438"/>
                        <a14:foregroundMark x1="24701" y1="93438" x2="86454" y2="97500"/>
                        <a14:foregroundMark x1="86454" y1="97500" x2="87251" y2="81250"/>
                        <a14:foregroundMark x1="87251" y1="81250" x2="71315" y2="58125"/>
                        <a14:foregroundMark x1="12749" y1="88750" x2="8367" y2="99375"/>
                        <a14:foregroundMark x1="70916" y1="90625" x2="95219" y2="96563"/>
                        <a14:foregroundMark x1="8367" y1="95000" x2="4781" y2="99375"/>
                        <a14:foregroundMark x1="96016" y1="95313" x2="99203" y2="99375"/>
                        <a14:foregroundMark x1="54183" y1="7500" x2="54183" y2="6875"/>
                        <a14:foregroundMark x1="43028" y1="8750" x2="43028" y2="1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4671" y="1908047"/>
            <a:ext cx="3882620" cy="4949953"/>
          </a:xfrm>
          <a:prstGeom prst="rect">
            <a:avLst/>
          </a:prstGeom>
          <a:noFill/>
          <a:effectLst>
            <a:outerShdw blurRad="50800" dist="38100" dir="18900000" sx="101000" sy="101000" algn="bl" rotWithShape="0">
              <a:prstClr val="black">
                <a:alpha val="6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Лермонтов Михаил Юрьевич: биография и стихи, Лермонтов в Москве">
            <a:extLst>
              <a:ext uri="{FF2B5EF4-FFF2-40B4-BE49-F238E27FC236}">
                <a16:creationId xmlns:a16="http://schemas.microsoft.com/office/drawing/2014/main" id="{20057B76-2405-510C-90AF-8E90B678A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000" b="98000" l="885" r="95929">
                        <a14:foregroundMark x1="47080" y1="14133" x2="28673" y2="93867"/>
                        <a14:foregroundMark x1="28673" y1="93867" x2="60177" y2="73600"/>
                        <a14:foregroundMark x1="86887" y1="65141" x2="87965" y2="64800"/>
                        <a14:foregroundMark x1="60177" y1="73600" x2="75751" y2="68668"/>
                        <a14:foregroundMark x1="76899" y1="77349" x2="71504" y2="83467"/>
                        <a14:foregroundMark x1="87965" y1="64800" x2="87047" y2="65841"/>
                        <a14:foregroundMark x1="71504" y1="83467" x2="25133" y2="93867"/>
                        <a14:foregroundMark x1="25133" y1="93867" x2="16637" y2="79733"/>
                        <a14:foregroundMark x1="16637" y1="79733" x2="48850" y2="59067"/>
                        <a14:foregroundMark x1="48850" y1="59067" x2="48850" y2="59067"/>
                        <a14:foregroundMark x1="28673" y1="53200" x2="12566" y2="91867"/>
                        <a14:foregroundMark x1="59646" y1="55600" x2="75751" y2="61667"/>
                        <a14:foregroundMark x1="77625" y1="77273" x2="77876" y2="90667"/>
                        <a14:foregroundMark x1="77876" y1="90667" x2="67788" y2="99867"/>
                        <a14:foregroundMark x1="67788" y1="99867" x2="34159" y2="96400"/>
                        <a14:foregroundMark x1="34159" y1="96400" x2="8850" y2="79867"/>
                        <a14:foregroundMark x1="8850" y1="79867" x2="20000" y2="52533"/>
                        <a14:foregroundMark x1="20000" y1="52533" x2="59115" y2="49867"/>
                        <a14:foregroundMark x1="59115" y1="49867" x2="93451" y2="57733"/>
                        <a14:foregroundMark x1="93451" y1="57733" x2="93628" y2="70267"/>
                        <a14:foregroundMark x1="87376" y1="76256" x2="66903" y2="95867"/>
                        <a14:foregroundMark x1="89005" y1="74696" x2="88480" y2="75199"/>
                        <a14:foregroundMark x1="93628" y1="70267" x2="89285" y2="74428"/>
                        <a14:foregroundMark x1="9204" y1="84667" x2="6195" y2="98133"/>
                        <a14:foregroundMark x1="9381" y1="85067" x2="885" y2="93200"/>
                        <a14:foregroundMark x1="885" y1="93200" x2="885" y2="95600"/>
                        <a14:foregroundMark x1="32284" y1="31034" x2="33982" y2="16533"/>
                        <a14:foregroundMark x1="33982" y1="16533" x2="55752" y2="7067"/>
                        <a14:foregroundMark x1="55752" y1="7067" x2="66372" y2="16400"/>
                        <a14:foregroundMark x1="66372" y1="16400" x2="62301" y2="46667"/>
                        <a14:foregroundMark x1="48319" y1="28000" x2="49381" y2="36800"/>
                        <a14:foregroundMark x1="49381" y1="36800" x2="47965" y2="29467"/>
                        <a14:foregroundMark x1="47965" y1="29467" x2="46549" y2="28400"/>
                        <a14:foregroundMark x1="30256" y1="28148" x2="31327" y2="19733"/>
                        <a14:foregroundMark x1="31327" y1="19733" x2="40531" y2="8400"/>
                        <a14:foregroundMark x1="40531" y1="8400" x2="52212" y2="8533"/>
                        <a14:foregroundMark x1="52212" y1="8533" x2="55398" y2="9200"/>
                        <a14:foregroundMark x1="29816" y1="28104" x2="28319" y2="27067"/>
                        <a14:foregroundMark x1="34121" y1="31088" x2="30990" y2="28918"/>
                        <a14:foregroundMark x1="37168" y1="33200" x2="34233" y2="31166"/>
                        <a14:foregroundMark x1="28319" y1="27067" x2="37876" y2="11200"/>
                        <a14:foregroundMark x1="37876" y1="11200" x2="46726" y2="8667"/>
                        <a14:foregroundMark x1="35752" y1="31067" x2="32743" y2="18533"/>
                        <a14:foregroundMark x1="32743" y1="18533" x2="40545" y2="7321"/>
                        <a14:foregroundMark x1="47407" y1="5613" x2="49027" y2="7467"/>
                        <a14:foregroundMark x1="44071" y1="13200" x2="30265" y2="23733"/>
                        <a14:foregroundMark x1="30265" y1="23733" x2="28789" y2="28254"/>
                        <a14:foregroundMark x1="36991" y1="15333" x2="35044" y2="32667"/>
                        <a14:foregroundMark x1="35044" y1="32667" x2="40354" y2="50000"/>
                        <a14:foregroundMark x1="31504" y1="25333" x2="31150" y2="12800"/>
                        <a14:foregroundMark x1="31858" y1="16533" x2="28142" y2="27067"/>
                        <a14:foregroundMark x1="28673" y1="22400" x2="33097" y2="14400"/>
                        <a14:foregroundMark x1="27434" y1="15867" x2="28619" y2="27849"/>
                        <a14:foregroundMark x1="28142" y1="25333" x2="26726" y2="20533"/>
                        <a14:foregroundMark x1="79469" y1="93333" x2="80405" y2="93012"/>
                        <a14:foregroundMark x1="94651" y1="79834" x2="92212" y2="74933"/>
                        <a14:foregroundMark x1="95087" y1="80709" x2="94745" y2="80021"/>
                        <a14:foregroundMark x1="90292" y1="76420" x2="85841" y2="79867"/>
                        <a14:foregroundMark x1="92212" y1="74933" x2="90297" y2="76416"/>
                        <a14:foregroundMark x1="85487" y1="74133" x2="92212" y2="71733"/>
                        <a14:foregroundMark x1="81416" y1="73733" x2="81416" y2="73733"/>
                        <a14:foregroundMark x1="85133" y1="73733" x2="81947" y2="76133"/>
                        <a14:foregroundMark x1="82124" y1="88533" x2="93274" y2="78400"/>
                        <a14:foregroundMark x1="83894" y1="87200" x2="95752" y2="79200"/>
                        <a14:backgroundMark x1="40708" y1="2933" x2="64071" y2="5200"/>
                        <a14:backgroundMark x1="31504" y1="35067" x2="31504" y2="35067"/>
                        <a14:backgroundMark x1="31327" y1="35333" x2="29912" y2="36800"/>
                        <a14:backgroundMark x1="30619" y1="37467" x2="24602" y2="42267"/>
                        <a14:backgroundMark x1="28142" y1="35200" x2="21947" y2="29467"/>
                        <a14:backgroundMark x1="26726" y1="35600" x2="26726" y2="40533"/>
                        <a14:backgroundMark x1="27788" y1="36533" x2="24425" y2="32800"/>
                        <a14:backgroundMark x1="26726" y1="31333" x2="31858" y2="33333"/>
                        <a14:backgroundMark x1="33982" y1="37067" x2="31858" y2="36667"/>
                        <a14:backgroundMark x1="31150" y1="31467" x2="32212" y2="37600"/>
                        <a14:backgroundMark x1="26903" y1="29067" x2="28850" y2="30133"/>
                        <a14:backgroundMark x1="27788" y1="28400" x2="29558" y2="35200"/>
                        <a14:backgroundMark x1="96460" y1="84800" x2="91327" y2="95733"/>
                        <a14:backgroundMark x1="89558" y1="91467" x2="97522" y2="83733"/>
                        <a14:backgroundMark x1="81770" y1="67467" x2="81770" y2="68133"/>
                        <a14:backgroundMark x1="81239" y1="65867" x2="81239" y2="71333"/>
                        <a14:backgroundMark x1="81416" y1="64800" x2="80177" y2="65200"/>
                        <a14:backgroundMark x1="78761" y1="60933" x2="78761" y2="72267"/>
                        <a14:backgroundMark x1="78761" y1="72267" x2="81062" y2="62533"/>
                        <a14:backgroundMark x1="81062" y1="62533" x2="80177" y2="61333"/>
                        <a14:backgroundMark x1="78494" y1="73733" x2="77699" y2="75467"/>
                        <a14:backgroundMark x1="81062" y1="68133" x2="78494" y2="73733"/>
                        <a14:backgroundMark x1="77699" y1="75467" x2="80353" y2="75190"/>
                        <a14:backgroundMark x1="87418" y1="71891" x2="83894" y2="67200"/>
                        <a14:backgroundMark x1="83894" y1="67200" x2="83894" y2="67200"/>
                        <a14:backgroundMark x1="81239" y1="65733" x2="81770" y2="69600"/>
                        <a14:backgroundMark x1="82124" y1="67733" x2="85841" y2="66667"/>
                        <a14:backgroundMark x1="85664" y1="68933" x2="88142" y2="68000"/>
                        <a14:backgroundMark x1="82478" y1="67067" x2="85664" y2="67733"/>
                        <a14:backgroundMark x1="40000" y1="5867" x2="45487" y2="4267"/>
                        <a14:backgroundMark x1="90973" y1="87200" x2="97876" y2="83200"/>
                        <a14:backgroundMark x1="82124" y1="93867" x2="96637" y2="80800"/>
                        <a14:backgroundMark x1="80531" y1="92800" x2="88673" y2="88133"/>
                        <a14:backgroundMark x1="88673" y1="88133" x2="97168" y2="79600"/>
                        <a14:backgroundMark x1="86903" y1="90800" x2="93628" y2="85733"/>
                        <a14:backgroundMark x1="93628" y1="85733" x2="97876" y2="79467"/>
                        <a14:backgroundMark x1="97876" y1="79467" x2="97522" y2="80533"/>
                      </a14:backgroundRemoval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2382" y="3530600"/>
            <a:ext cx="2543562" cy="3376825"/>
          </a:xfrm>
          <a:prstGeom prst="rect">
            <a:avLst/>
          </a:prstGeom>
          <a:noFill/>
          <a:effectLst>
            <a:outerShdw blurRad="63500" sx="103000" sy="103000" algn="ctr" rotWithShape="0">
              <a:prstClr val="black">
                <a:alpha val="7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6775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Imagemap">
            <a:extLst>
              <a:ext uri="{FF2B5EF4-FFF2-40B4-BE49-F238E27FC236}">
                <a16:creationId xmlns:a16="http://schemas.microsoft.com/office/drawing/2014/main" id="{F9AB3517-6DC5-36E6-9600-7D69C1769E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99" b="3093"/>
          <a:stretch>
            <a:fillRect/>
          </a:stretch>
        </p:blipFill>
        <p:spPr bwMode="auto">
          <a:xfrm>
            <a:off x="2519308" y="-103893"/>
            <a:ext cx="9816129" cy="6961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1" name="Rectangle 308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E40579-BD65-3295-9BCE-C736C34D1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462" y="1252386"/>
            <a:ext cx="4456289" cy="1429808"/>
          </a:xfrm>
        </p:spPr>
        <p:txBody>
          <a:bodyPr>
            <a:normAutofit/>
          </a:bodyPr>
          <a:lstStyle/>
          <a:p>
            <a:r>
              <a:rPr lang="ru-RU" sz="4000" b="1" dirty="0"/>
              <a:t>Начало творческого пути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12B0B6-189B-7CB6-DB91-039407D64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512" y="2682557"/>
            <a:ext cx="5009444" cy="3210243"/>
          </a:xfrm>
        </p:spPr>
        <p:txBody>
          <a:bodyPr>
            <a:normAutofit/>
          </a:bodyPr>
          <a:lstStyle/>
          <a:p>
            <a:r>
              <a:rPr lang="ru-RU" sz="2000" b="1" dirty="0"/>
              <a:t>1828-1832:</a:t>
            </a:r>
            <a:r>
              <a:rPr lang="ru-RU" sz="2000" dirty="0"/>
              <a:t> Учеба в Благородном пансионе и Московском университете.</a:t>
            </a:r>
          </a:p>
          <a:p>
            <a:r>
              <a:rPr lang="ru-RU" sz="2000" dirty="0"/>
              <a:t>Увлечение поэзией </a:t>
            </a:r>
            <a:r>
              <a:rPr lang="ru-RU" sz="2000" b="1" dirty="0"/>
              <a:t>Байрона</a:t>
            </a:r>
            <a:r>
              <a:rPr lang="ru-RU" sz="2000" dirty="0"/>
              <a:t> и </a:t>
            </a:r>
            <a:r>
              <a:rPr lang="ru-RU" sz="2000" b="1" dirty="0"/>
              <a:t>Пушкина</a:t>
            </a:r>
            <a:endParaRPr lang="ru-RU" sz="2000" dirty="0"/>
          </a:p>
          <a:p>
            <a:r>
              <a:rPr lang="ru-RU" sz="2000" dirty="0"/>
              <a:t>Первые поэмы: </a:t>
            </a:r>
            <a:r>
              <a:rPr lang="ru-RU" sz="2000" b="1" dirty="0"/>
              <a:t>«Измаил-бей»</a:t>
            </a:r>
            <a:r>
              <a:rPr lang="ru-RU" sz="2000" dirty="0"/>
              <a:t>, </a:t>
            </a:r>
            <a:r>
              <a:rPr lang="ru-RU" sz="2000" b="1" dirty="0"/>
              <a:t>«Исповедь»</a:t>
            </a:r>
            <a:r>
              <a:rPr lang="ru-RU" sz="2000" dirty="0"/>
              <a:t> (прообраз «Мцыри»).</a:t>
            </a:r>
          </a:p>
          <a:p>
            <a:endParaRPr lang="ru-RU" sz="2000" dirty="0"/>
          </a:p>
        </p:txBody>
      </p:sp>
      <p:pic>
        <p:nvPicPr>
          <p:cNvPr id="2054" name="Picture 6" descr="Я встретила Пушкина и не заметила его». Что Анна Керн писала о поэте | АиФ  Черноземье">
            <a:extLst>
              <a:ext uri="{FF2B5EF4-FFF2-40B4-BE49-F238E27FC236}">
                <a16:creationId xmlns:a16="http://schemas.microsoft.com/office/drawing/2014/main" id="{BD9ADD6D-07F3-A702-4D61-01DFE45400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059" b="96471" l="10000" r="90000">
                        <a14:foregroundMark x1="58125" y1="10824" x2="58125" y2="41647"/>
                        <a14:foregroundMark x1="58125" y1="41647" x2="50938" y2="81647"/>
                        <a14:foregroundMark x1="50938" y1="81647" x2="44844" y2="93412"/>
                        <a14:foregroundMark x1="44844" y1="93412" x2="61406" y2="72000"/>
                        <a14:foregroundMark x1="61406" y1="72000" x2="70000" y2="46824"/>
                        <a14:foregroundMark x1="70000" y1="46824" x2="68438" y2="34353"/>
                        <a14:foregroundMark x1="68438" y1="34353" x2="59062" y2="9882"/>
                        <a14:foregroundMark x1="58750" y1="11294" x2="60156" y2="18118"/>
                        <a14:foregroundMark x1="60938" y1="7529" x2="60313" y2="18824"/>
                        <a14:foregroundMark x1="56250" y1="8941" x2="55781" y2="20706"/>
                        <a14:foregroundMark x1="61250" y1="20000" x2="62813" y2="41176"/>
                        <a14:foregroundMark x1="61250" y1="67059" x2="59531" y2="94824"/>
                        <a14:foregroundMark x1="60469" y1="85882" x2="60469" y2="87294"/>
                        <a14:foregroundMark x1="62500" y1="94118" x2="62500" y2="95059"/>
                        <a14:foregroundMark x1="49063" y1="74588" x2="47500" y2="86118"/>
                        <a14:foregroundMark x1="47500" y1="86118" x2="52656" y2="93882"/>
                        <a14:foregroundMark x1="52656" y1="93882" x2="59531" y2="97882"/>
                        <a14:foregroundMark x1="59531" y1="97882" x2="46875" y2="96471"/>
                        <a14:foregroundMark x1="46875" y1="96471" x2="56406" y2="74118"/>
                        <a14:backgroundMark x1="47813" y1="27059" x2="29688" y2="97176"/>
                        <a14:backgroundMark x1="27969" y1="11294" x2="44844" y2="15059"/>
                        <a14:backgroundMark x1="44844" y1="15059" x2="49531" y2="21176"/>
                        <a14:backgroundMark x1="37188" y1="88471" x2="37188" y2="91294"/>
                        <a14:backgroundMark x1="42500" y1="58353" x2="42188" y2="61882"/>
                        <a14:backgroundMark x1="42500" y1="65882" x2="42500" y2="65882"/>
                        <a14:backgroundMark x1="45625" y1="53412" x2="45625" y2="53412"/>
                        <a14:backgroundMark x1="68750" y1="64706" x2="68750" y2="64706"/>
                        <a14:backgroundMark x1="68438" y1="61647" x2="68438" y2="61647"/>
                      </a14:backgroundRemoval>
                    </a14:imgEffect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751" y="468504"/>
            <a:ext cx="9816130" cy="6518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Лорд Байрон: достаточно одного поэта - РИА Новости, 18.09.2013">
            <a:extLst>
              <a:ext uri="{FF2B5EF4-FFF2-40B4-BE49-F238E27FC236}">
                <a16:creationId xmlns:a16="http://schemas.microsoft.com/office/drawing/2014/main" id="{FCA2B815-5417-2D16-5C8F-E55D0683C2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6094" l="10000" r="99844">
                        <a14:foregroundMark x1="40833" y1="67552" x2="32292" y2="79792"/>
                        <a14:foregroundMark x1="32292" y1="79792" x2="36354" y2="96250"/>
                        <a14:foregroundMark x1="36354" y1="96250" x2="73854" y2="95521"/>
                        <a14:foregroundMark x1="73854" y1="95521" x2="86458" y2="81302"/>
                        <a14:foregroundMark x1="86458" y1="81302" x2="84740" y2="61406"/>
                        <a14:foregroundMark x1="84740" y1="61406" x2="73802" y2="54635"/>
                        <a14:foregroundMark x1="43594" y1="80885" x2="36823" y2="90000"/>
                        <a14:foregroundMark x1="36823" y1="90000" x2="76250" y2="81198"/>
                        <a14:foregroundMark x1="76250" y1="81198" x2="61250" y2="85469"/>
                        <a14:foregroundMark x1="61250" y1="85469" x2="56927" y2="84688"/>
                        <a14:foregroundMark x1="42448" y1="76198" x2="25573" y2="85677"/>
                        <a14:foregroundMark x1="25573" y1="85677" x2="33802" y2="86979"/>
                        <a14:foregroundMark x1="33802" y1="86979" x2="50885" y2="97031"/>
                        <a14:foregroundMark x1="50885" y1="97031" x2="92708" y2="90938"/>
                        <a14:foregroundMark x1="92708" y1="90938" x2="95573" y2="75156"/>
                        <a14:foregroundMark x1="95573" y1="75156" x2="78438" y2="61667"/>
                        <a14:foregroundMark x1="78438" y1="61667" x2="77865" y2="60052"/>
                        <a14:foregroundMark x1="77135" y1="52917" x2="87083" y2="60573"/>
                        <a14:foregroundMark x1="87083" y1="60573" x2="93958" y2="88542"/>
                        <a14:foregroundMark x1="93958" y1="88542" x2="88073" y2="59688"/>
                        <a14:foregroundMark x1="88073" y1="59688" x2="80313" y2="60417"/>
                        <a14:foregroundMark x1="80313" y1="60417" x2="60573" y2="83490"/>
                        <a14:foregroundMark x1="60573" y1="83490" x2="29115" y2="96927"/>
                        <a14:foregroundMark x1="29115" y1="96927" x2="75990" y2="98385"/>
                        <a14:foregroundMark x1="75990" y1="98385" x2="89740" y2="96094"/>
                        <a14:foregroundMark x1="89740" y1="96094" x2="86979" y2="94219"/>
                        <a14:foregroundMark x1="22344" y1="93021" x2="79792" y2="96406"/>
                        <a14:foregroundMark x1="79792" y1="96406" x2="88229" y2="55417"/>
                        <a14:foregroundMark x1="88229" y1="55417" x2="51354" y2="20469"/>
                        <a14:foregroundMark x1="51354" y1="20469" x2="46042" y2="35729"/>
                        <a14:foregroundMark x1="46042" y1="35729" x2="59948" y2="30781"/>
                        <a14:foregroundMark x1="59948" y1="30781" x2="83646" y2="66250"/>
                        <a14:foregroundMark x1="83646" y1="66250" x2="81667" y2="53698"/>
                        <a14:foregroundMark x1="81667" y1="53698" x2="70781" y2="38490"/>
                        <a14:foregroundMark x1="70781" y1="38490" x2="92396" y2="62604"/>
                        <a14:foregroundMark x1="99632" y1="83542" x2="99740" y2="83854"/>
                        <a14:foregroundMark x1="92396" y1="62604" x2="98006" y2="78837"/>
                        <a14:foregroundMark x1="99740" y1="83854" x2="99844" y2="86719"/>
                        <a14:foregroundMark x1="57969" y1="19323" x2="65625" y2="34740"/>
                        <a14:foregroundMark x1="65625" y1="34740" x2="67031" y2="53021"/>
                        <a14:foregroundMark x1="60573" y1="21667" x2="68646" y2="31615"/>
                        <a14:foregroundMark x1="68646" y1="31615" x2="66458" y2="52292"/>
                        <a14:foregroundMark x1="66458" y1="52292" x2="65573" y2="52292"/>
                        <a14:foregroundMark x1="54323" y1="18750" x2="61250" y2="18854"/>
                        <a14:foregroundMark x1="61250" y1="18854" x2="66875" y2="38281"/>
                        <a14:foregroundMark x1="66875" y1="38281" x2="56354" y2="63125"/>
                        <a14:foregroundMark x1="56354" y1="63125" x2="55625" y2="63594"/>
                        <a14:foregroundMark x1="55757" y1="16228" x2="60990" y2="19219"/>
                        <a14:foregroundMark x1="54363" y1="15431" x2="55747" y2="16222"/>
                        <a14:foregroundMark x1="60990" y1="19219" x2="61875" y2="37500"/>
                        <a14:foregroundMark x1="61875" y1="37500" x2="56771" y2="45990"/>
                        <a14:foregroundMark x1="53438" y1="19323" x2="65208" y2="37656"/>
                        <a14:foregroundMark x1="65208" y1="37656" x2="60729" y2="48958"/>
                        <a14:foregroundMark x1="61615" y1="14792" x2="66771" y2="22552"/>
                        <a14:foregroundMark x1="66771" y1="22552" x2="70833" y2="40938"/>
                        <a14:foregroundMark x1="70833" y1="40938" x2="69844" y2="41927"/>
                        <a14:foregroundMark x1="62917" y1="16094" x2="71458" y2="26354"/>
                        <a14:foregroundMark x1="71458" y1="26354" x2="71510" y2="46510"/>
                        <a14:foregroundMark x1="71510" y1="46510" x2="69688" y2="47188"/>
                        <a14:foregroundMark x1="43594" y1="35625" x2="39271" y2="29844"/>
                        <a14:foregroundMark x1="39271" y1="29844" x2="49066" y2="18311"/>
                        <a14:foregroundMark x1="51354" y1="59323" x2="57813" y2="47188"/>
                        <a14:foregroundMark x1="69688" y1="42031" x2="74760" y2="35413"/>
                        <a14:foregroundMark x1="71012" y1="28279" x2="68438" y2="24167"/>
                        <a14:foregroundMark x1="72022" y1="29891" x2="71037" y2="28319"/>
                        <a14:foregroundMark x1="73449" y1="32169" x2="73001" y2="31454"/>
                        <a14:foregroundMark x1="68438" y1="24167" x2="60573" y2="17604"/>
                        <a14:foregroundMark x1="60573" y1="17604" x2="53698" y2="18438"/>
                        <a14:backgroundMark x1="8854" y1="84688" x2="26771" y2="68802"/>
                        <a14:backgroundMark x1="26771" y1="68802" x2="30729" y2="61563"/>
                        <a14:backgroundMark x1="30729" y1="61563" x2="30885" y2="34167"/>
                        <a14:backgroundMark x1="30885" y1="34167" x2="39583" y2="19844"/>
                        <a14:backgroundMark x1="39583" y1="19844" x2="51979" y2="10833"/>
                        <a14:backgroundMark x1="35833" y1="30781" x2="30573" y2="62708"/>
                        <a14:backgroundMark x1="37865" y1="60208" x2="37031" y2="61823"/>
                        <a14:backgroundMark x1="50469" y1="66354" x2="50469" y2="66354"/>
                        <a14:backgroundMark x1="80104" y1="45990" x2="71146" y2="27917"/>
                        <a14:backgroundMark x1="71146" y1="27917" x2="71458" y2="27240"/>
                        <a14:backgroundMark x1="73646" y1="32083" x2="74948" y2="34896"/>
                        <a14:backgroundMark x1="46979" y1="17865" x2="56667" y2="13854"/>
                        <a14:backgroundMark x1="56667" y1="13854" x2="56927" y2="13646"/>
                        <a14:backgroundMark x1="48125" y1="19063" x2="56198" y2="15469"/>
                        <a14:backgroundMark x1="56198" y1="15469" x2="61458" y2="14948"/>
                        <a14:backgroundMark x1="49479" y1="17448" x2="48438" y2="17604"/>
                        <a14:backgroundMark x1="52708" y1="13490" x2="56354" y2="14635"/>
                        <a14:backgroundMark x1="50052" y1="17448" x2="47708" y2="17448"/>
                        <a14:backgroundMark x1="99427" y1="61667" x2="98542" y2="90104"/>
                        <a14:backgroundMark x1="37865" y1="43229" x2="37135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7365" y="2311267"/>
            <a:ext cx="4804789" cy="4804789"/>
          </a:xfrm>
          <a:prstGeom prst="rect">
            <a:avLst/>
          </a:prstGeom>
          <a:noFill/>
          <a:effectLst>
            <a:outerShdw blurRad="50800" dist="38100" dir="13500000" sx="101000" sy="101000" algn="br" rotWithShape="0">
              <a:prstClr val="black">
                <a:alpha val="65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02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0" name="Rectangle 410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4" name="Picture 10" descr="Первый праздник в честь Пушкина - Централизованная ...">
            <a:extLst>
              <a:ext uri="{FF2B5EF4-FFF2-40B4-BE49-F238E27FC236}">
                <a16:creationId xmlns:a16="http://schemas.microsoft.com/office/drawing/2014/main" id="{4A34A2D4-A652-F131-619C-7A306673A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1" r="21" b="-1"/>
          <a:stretch>
            <a:fillRect/>
          </a:stretch>
        </p:blipFill>
        <p:spPr bwMode="auto">
          <a:xfrm>
            <a:off x="0" y="-262274"/>
            <a:ext cx="10759947" cy="7631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12" name="Rectangle 41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807C2D-6EE5-C0EC-49F5-63123588C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ru-RU" sz="3100" b="1" dirty="0"/>
              <a:t>Петербург и «злополучные» годы</a:t>
            </a:r>
            <a:br>
              <a:rPr lang="ru-RU" sz="3100" b="1" dirty="0"/>
            </a:br>
            <a:endParaRPr lang="ru-RU" sz="310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B33879-367A-F3C7-0326-85C44BA45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1935532"/>
            <a:ext cx="4355590" cy="3742762"/>
          </a:xfrm>
        </p:spPr>
        <p:txBody>
          <a:bodyPr>
            <a:normAutofit/>
          </a:bodyPr>
          <a:lstStyle/>
          <a:p>
            <a:r>
              <a:rPr lang="ru-RU" sz="2000" b="1" dirty="0"/>
              <a:t>1832 год:</a:t>
            </a:r>
            <a:r>
              <a:rPr lang="ru-RU" sz="2000" dirty="0"/>
              <a:t> Переезд в Петербург.</a:t>
            </a:r>
          </a:p>
          <a:p>
            <a:r>
              <a:rPr lang="ru-RU" sz="2000" dirty="0"/>
              <a:t>Поступление в </a:t>
            </a:r>
            <a:r>
              <a:rPr lang="ru-RU" sz="2000" b="1" dirty="0"/>
              <a:t>Школу гвардейских подпрапорщиков</a:t>
            </a:r>
            <a:r>
              <a:rPr lang="ru-RU" sz="2000" dirty="0"/>
              <a:t>.</a:t>
            </a:r>
          </a:p>
          <a:p>
            <a:r>
              <a:rPr lang="ru-RU" sz="2000" dirty="0"/>
              <a:t>Годы «муштры» и «дебошей».</a:t>
            </a:r>
          </a:p>
          <a:p>
            <a:r>
              <a:rPr lang="ru-RU" sz="2000" dirty="0"/>
              <a:t>Затишье в лирике, работа над драмой </a:t>
            </a:r>
            <a:r>
              <a:rPr lang="ru-RU" sz="2000" b="1" dirty="0"/>
              <a:t>«Маскарад»</a:t>
            </a:r>
            <a:r>
              <a:rPr lang="ru-RU" sz="2000" dirty="0"/>
              <a:t>.</a:t>
            </a:r>
          </a:p>
          <a:p>
            <a:endParaRPr lang="ru-RU" sz="2000" dirty="0"/>
          </a:p>
        </p:txBody>
      </p:sp>
      <p:pic>
        <p:nvPicPr>
          <p:cNvPr id="7" name="Picture 2" descr="Мариинский дворец | Достопримечательности Санкт-Петербурга">
            <a:extLst>
              <a:ext uri="{FF2B5EF4-FFF2-40B4-BE49-F238E27FC236}">
                <a16:creationId xmlns:a16="http://schemas.microsoft.com/office/drawing/2014/main" id="{16251A4B-D679-E157-42C3-A58AC963A0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27" b="89595" l="9375" r="95703">
                        <a14:foregroundMark x1="10352" y1="35260" x2="12109" y2="61272"/>
                        <a14:foregroundMark x1="86133" y1="43064" x2="83594" y2="67919"/>
                        <a14:foregroundMark x1="85352" y1="67341" x2="93359" y2="63295"/>
                        <a14:foregroundMark x1="93359" y1="63295" x2="95703" y2="63584"/>
                        <a14:backgroundMark x1="7813" y1="74566" x2="7422" y2="77457"/>
                        <a14:backgroundMark x1="33594" y1="81503" x2="73633" y2="81503"/>
                        <a14:backgroundMark x1="23438" y1="80058" x2="33594" y2="80058"/>
                        <a14:backgroundMark x1="28516" y1="77746" x2="33789" y2="77168"/>
                        <a14:backgroundMark x1="33398" y1="73410" x2="33398" y2="73410"/>
                        <a14:backgroundMark x1="89063" y1="73699" x2="84570" y2="73410"/>
                      </a14:backgroundRemoval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4826"/>
          <a:stretch>
            <a:fillRect/>
          </a:stretch>
        </p:blipFill>
        <p:spPr bwMode="auto">
          <a:xfrm flipH="1">
            <a:off x="4991466" y="2988509"/>
            <a:ext cx="7911987" cy="5611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Литературный Петербург. Лермонтов в Петербурге">
            <a:extLst>
              <a:ext uri="{FF2B5EF4-FFF2-40B4-BE49-F238E27FC236}">
                <a16:creationId xmlns:a16="http://schemas.microsoft.com/office/drawing/2014/main" id="{0CF0ED04-2CFB-E056-7207-39ED02BDD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817" b="89684" l="4897" r="89691">
                        <a14:foregroundMark x1="51289" y1="14309" x2="47165" y2="32280"/>
                        <a14:foregroundMark x1="47165" y1="32280" x2="25258" y2="58569"/>
                        <a14:foregroundMark x1="25258" y1="58569" x2="11082" y2="61398"/>
                        <a14:foregroundMark x1="11082" y1="61398" x2="17784" y2="54077"/>
                        <a14:foregroundMark x1="17784" y1="54077" x2="51804" y2="57903"/>
                        <a14:foregroundMark x1="51804" y1="57903" x2="60052" y2="67887"/>
                        <a14:foregroundMark x1="60052" y1="67887" x2="44072" y2="67720"/>
                        <a14:foregroundMark x1="44072" y1="67720" x2="42010" y2="56406"/>
                        <a14:foregroundMark x1="40464" y1="63561" x2="42268" y2="71547"/>
                        <a14:foregroundMark x1="11598" y1="67720" x2="24227" y2="64060"/>
                        <a14:foregroundMark x1="24227" y1="64060" x2="34021" y2="57737"/>
                        <a14:foregroundMark x1="7216" y1="69384" x2="20876" y2="57404"/>
                        <a14:foregroundMark x1="4897" y1="67388" x2="14433" y2="66223"/>
                        <a14:foregroundMark x1="5155" y1="55574" x2="11082" y2="5074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7586" y="3156074"/>
            <a:ext cx="3979278" cy="6163779"/>
          </a:xfrm>
          <a:prstGeom prst="rect">
            <a:avLst/>
          </a:prstGeom>
          <a:noFill/>
          <a:effectLst>
            <a:outerShdw blurRad="50800" dist="38100" dir="18900000" sx="101000" sy="101000" algn="bl" rotWithShape="0">
              <a:prstClr val="black">
                <a:alpha val="65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0709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0" name="Picture 10">
            <a:extLst>
              <a:ext uri="{FF2B5EF4-FFF2-40B4-BE49-F238E27FC236}">
                <a16:creationId xmlns:a16="http://schemas.microsoft.com/office/drawing/2014/main" id="{4476AD5E-C86F-6ED5-F58B-0D72266F9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FilmGrain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25826"/>
            <a:ext cx="12192000" cy="8083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085D22-5C76-D3BD-A25A-B0BBF6A36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«Смерть Поэта» и Первая ссылка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F6C373-892D-ADF2-E223-DB020A6A7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400" b="1" dirty="0"/>
              <a:t>1837 год:</a:t>
            </a:r>
            <a:r>
              <a:rPr lang="ru-RU" sz="2400" dirty="0"/>
              <a:t> Стихотворение </a:t>
            </a:r>
            <a:r>
              <a:rPr lang="ru-RU" sz="2400" b="1" dirty="0"/>
              <a:t>«Смерть Поэта»</a:t>
            </a:r>
            <a:r>
              <a:rPr lang="ru-RU" sz="2400" dirty="0"/>
              <a:t>.</a:t>
            </a:r>
          </a:p>
          <a:p>
            <a:pPr algn="ctr"/>
            <a:r>
              <a:rPr lang="ru-RU" sz="2400" dirty="0"/>
              <a:t>Резкий отклик на гибель А.С. Пушкина.</a:t>
            </a:r>
          </a:p>
          <a:p>
            <a:pPr algn="ctr"/>
            <a:r>
              <a:rPr lang="ru-RU" sz="2400" dirty="0"/>
              <a:t>Реакция императора: </a:t>
            </a:r>
            <a:r>
              <a:rPr lang="ru-RU" sz="2400" b="1" dirty="0"/>
              <a:t>«Собаке — собачья смерть»</a:t>
            </a:r>
            <a:r>
              <a:rPr lang="ru-RU" sz="2400" dirty="0"/>
              <a:t>.</a:t>
            </a:r>
          </a:p>
          <a:p>
            <a:pPr algn="ctr"/>
            <a:r>
              <a:rPr lang="ru-RU" sz="2400" dirty="0"/>
              <a:t>Результат: </a:t>
            </a:r>
            <a:r>
              <a:rPr lang="ru-RU" sz="2400" b="1" dirty="0"/>
              <a:t>Ссылка на Кавказ</a:t>
            </a:r>
            <a:r>
              <a:rPr lang="ru-RU" sz="2400" dirty="0"/>
              <a:t>.</a:t>
            </a:r>
          </a:p>
          <a:p>
            <a:pPr algn="ctr"/>
            <a:endParaRPr lang="ru-RU" sz="2400" dirty="0"/>
          </a:p>
        </p:txBody>
      </p:sp>
      <p:pic>
        <p:nvPicPr>
          <p:cNvPr id="5122" name="Picture 2" descr="Пять неразгаданных тайн дуэли и смерти Пушкина">
            <a:extLst>
              <a:ext uri="{FF2B5EF4-FFF2-40B4-BE49-F238E27FC236}">
                <a16:creationId xmlns:a16="http://schemas.microsoft.com/office/drawing/2014/main" id="{29B40BC2-0C29-A7B3-D56D-8C4CE9C2710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594" b="93438" l="10000" r="99792">
                        <a14:foregroundMark x1="54792" y1="93438" x2="68958" y2="85625"/>
                        <a14:foregroundMark x1="68958" y1="85625" x2="84271" y2="67500"/>
                        <a14:foregroundMark x1="84271" y1="67500" x2="79792" y2="51250"/>
                        <a14:foregroundMark x1="79792" y1="51250" x2="76042" y2="60156"/>
                        <a14:foregroundMark x1="76042" y1="60156" x2="52917" y2="46406"/>
                        <a14:foregroundMark x1="52917" y1="46406" x2="52812" y2="46406"/>
                        <a14:foregroundMark x1="75417" y1="9063" x2="96250" y2="48438"/>
                        <a14:foregroundMark x1="96250" y1="48438" x2="95417" y2="65938"/>
                        <a14:foregroundMark x1="95417" y1="65938" x2="87500" y2="89531"/>
                        <a14:foregroundMark x1="87500" y1="89531" x2="84792" y2="93281"/>
                        <a14:foregroundMark x1="92604" y1="85625" x2="99792" y2="90313"/>
                        <a14:foregroundMark x1="74063" y1="3594" x2="74063" y2="3594"/>
                        <a14:foregroundMark x1="59375" y1="65938" x2="59375" y2="65938"/>
                        <a14:foregroundMark x1="52604" y1="46563" x2="50521" y2="46094"/>
                        <a14:foregroundMark x1="50729" y1="45781" x2="52917" y2="45781"/>
                        <a14:backgroundMark x1="17604" y1="25469" x2="17498" y2="30637"/>
                        <a14:backgroundMark x1="98229" y1="30000" x2="98229" y2="30000"/>
                        <a14:backgroundMark x1="95000" y1="22813" x2="99479" y2="35625"/>
                        <a14:backgroundMark x1="13125" y1="20938" x2="14479" y2="56250"/>
                        <a14:backgroundMark x1="14479" y1="56250" x2="20000" y2="60469"/>
                        <a14:backgroundMark x1="20000" y1="60469" x2="23333" y2="52031"/>
                        <a14:backgroundMark x1="23333" y1="52031" x2="16979" y2="35469"/>
                        <a14:backgroundMark x1="16979" y1="35469" x2="12500" y2="52969"/>
                        <a14:backgroundMark x1="12500" y1="52969" x2="20833" y2="52031"/>
                        <a14:backgroundMark x1="20833" y1="52031" x2="15833" y2="48125"/>
                        <a14:backgroundMark x1="15833" y1="48125" x2="13750" y2="31406"/>
                        <a14:backgroundMark x1="13750" y1="31406" x2="23125" y2="73906"/>
                        <a14:backgroundMark x1="7083" y1="65000" x2="20625" y2="59531"/>
                        <a14:backgroundMark x1="20625" y1="59531" x2="23542" y2="67813"/>
                        <a14:backgroundMark x1="23542" y1="67813" x2="11146" y2="64375"/>
                        <a14:backgroundMark x1="11146" y1="64375" x2="16354" y2="61719"/>
                        <a14:backgroundMark x1="16354" y1="61719" x2="14583" y2="53750"/>
                        <a14:backgroundMark x1="14583" y1="53750" x2="18958" y2="30312"/>
                        <a14:backgroundMark x1="18958" y1="30312" x2="15729" y2="53438"/>
                        <a14:backgroundMark x1="26146" y1="57031" x2="24271" y2="64688"/>
                        <a14:backgroundMark x1="24271" y1="64688" x2="28542" y2="59062"/>
                        <a14:backgroundMark x1="28542" y1="59062" x2="26771" y2="51563"/>
                        <a14:backgroundMark x1="26771" y1="51563" x2="24271" y2="58906"/>
                        <a14:backgroundMark x1="15521" y1="57344" x2="18021" y2="55000"/>
                        <a14:backgroundMark x1="57917" y1="9688" x2="59375" y2="27344"/>
                        <a14:backgroundMark x1="58646" y1="25938" x2="61250" y2="40625"/>
                        <a14:backgroundMark x1="58958" y1="60156" x2="62813" y2="61875"/>
                        <a14:backgroundMark x1="56563" y1="55625" x2="64479" y2="60781"/>
                        <a14:backgroundMark x1="59479" y1="39688" x2="63750" y2="41875"/>
                        <a14:backgroundMark x1="63750" y1="42969" x2="67188" y2="46094"/>
                        <a14:backgroundMark x1="67708" y1="46875" x2="68125" y2="48281"/>
                        <a14:backgroundMark x1="17188" y1="64063" x2="16771" y2="57031"/>
                        <a14:backgroundMark x1="21875" y1="52812" x2="21354" y2="61563"/>
                        <a14:backgroundMark x1="21354" y1="61563" x2="19479" y2="50000"/>
                        <a14:backgroundMark x1="19479" y1="50000" x2="19479" y2="50000"/>
                        <a14:backgroundMark x1="13542" y1="58594" x2="21667" y2="65469"/>
                        <a14:backgroundMark x1="21667" y1="65469" x2="23542" y2="51875"/>
                      </a14:backgroundRemoval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5049" y="1368729"/>
            <a:ext cx="8648281" cy="5765520"/>
          </a:xfrm>
          <a:prstGeom prst="rect">
            <a:avLst/>
          </a:prstGeom>
          <a:noFill/>
          <a:effectLst>
            <a:outerShdw blurRad="50800" dist="38100" dir="10800000" sx="102000" sy="102000" algn="r" rotWithShape="0">
              <a:prstClr val="black">
                <a:alpha val="7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DF654E29-2D04-8E4C-B5CF-3131F66EA6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backgroundMark x1="18667" y1="81077" x2="25667" y2="810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3336" y="1256044"/>
            <a:ext cx="5681854" cy="6505723"/>
          </a:xfrm>
          <a:prstGeom prst="rect">
            <a:avLst/>
          </a:prstGeom>
          <a:noFill/>
          <a:effectLst>
            <a:outerShdw blurRad="50800" dist="38100" dir="18900000" sx="101000" sy="101000" algn="bl" rotWithShape="0">
              <a:prstClr val="black">
                <a:alpha val="75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7106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 descr="Лермонтов-художник пишет и рисует Кавказ: slan1934 — LiveJournal">
            <a:extLst>
              <a:ext uri="{FF2B5EF4-FFF2-40B4-BE49-F238E27FC236}">
                <a16:creationId xmlns:a16="http://schemas.microsoft.com/office/drawing/2014/main" id="{3ABE18A5-D976-A902-B21C-CB0F20C35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69"/>
          <a:stretch>
            <a:fillRect/>
          </a:stretch>
        </p:blipFill>
        <p:spPr bwMode="auto">
          <a:xfrm>
            <a:off x="1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3" name="Rectangle 615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F2680F-8310-9AD2-002F-4B8DED37A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ru-RU" sz="4000" b="1"/>
              <a:t>Возвращение и расцвет</a:t>
            </a:r>
            <a:br>
              <a:rPr lang="ru-RU" sz="4000" b="1"/>
            </a:br>
            <a:endParaRPr lang="ru-RU" sz="400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266CED-DEA0-BB80-9CD3-F58AA2106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r>
              <a:rPr lang="ru-RU" sz="2000" dirty="0"/>
              <a:t>Возвращение в Петербург благодаря хлопотам бабушки.</a:t>
            </a:r>
          </a:p>
          <a:p>
            <a:r>
              <a:rPr lang="ru-RU" sz="2000" dirty="0"/>
              <a:t>Публикации в «Современнике» и «Отечественных записках».</a:t>
            </a:r>
          </a:p>
          <a:p>
            <a:r>
              <a:rPr lang="ru-RU" sz="2000" dirty="0"/>
              <a:t>Вершина творчества: </a:t>
            </a:r>
            <a:r>
              <a:rPr lang="ru-RU" sz="2000" b="1" dirty="0"/>
              <a:t>«Мцыри» (1839)</a:t>
            </a:r>
            <a:r>
              <a:rPr lang="ru-RU" sz="2000" dirty="0"/>
              <a:t>.</a:t>
            </a:r>
          </a:p>
          <a:p>
            <a:r>
              <a:rPr lang="ru-RU" sz="2000" dirty="0"/>
              <a:t>Начало работы над </a:t>
            </a:r>
            <a:r>
              <a:rPr lang="ru-RU" sz="2000" b="1" dirty="0"/>
              <a:t>«Героем нашего времени»</a:t>
            </a:r>
            <a:r>
              <a:rPr lang="ru-RU" sz="2000" dirty="0"/>
              <a:t>.</a:t>
            </a: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814827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5" name="Rectangle 717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3F6148D8-314B-3D43-F99C-03DB0041D1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148" r="4000" b="-1"/>
          <a:stretch>
            <a:fillRect/>
          </a:stretch>
        </p:blipFill>
        <p:spPr bwMode="auto">
          <a:xfrm>
            <a:off x="3748035" y="0"/>
            <a:ext cx="844396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7" name="Rectangle 717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92E98C-D31A-4117-BBF6-45CB3C202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/>
              <a:t> Дуэль с де </a:t>
            </a:r>
            <a:r>
              <a:rPr lang="ru-RU" sz="4000" b="1" dirty="0" err="1"/>
              <a:t>Барантом</a:t>
            </a:r>
            <a:r>
              <a:rPr lang="ru-RU" sz="4000" b="1" dirty="0"/>
              <a:t> и Вторая ссылка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527255-B1BF-BA15-1F7B-7EEECF7E2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644" y="2434201"/>
            <a:ext cx="4045299" cy="3742762"/>
          </a:xfrm>
        </p:spPr>
        <p:txBody>
          <a:bodyPr>
            <a:normAutofit/>
          </a:bodyPr>
          <a:lstStyle/>
          <a:p>
            <a:r>
              <a:rPr lang="ru-RU" sz="2000" b="1" dirty="0"/>
              <a:t>Февраль 1840 года:</a:t>
            </a:r>
            <a:r>
              <a:rPr lang="ru-RU" sz="2000" dirty="0"/>
              <a:t> Ссора с сыном французского посла де </a:t>
            </a:r>
            <a:r>
              <a:rPr lang="ru-RU" sz="2000" dirty="0" err="1"/>
              <a:t>Барантом</a:t>
            </a:r>
            <a:r>
              <a:rPr lang="ru-RU" sz="2000" dirty="0"/>
              <a:t>.</a:t>
            </a:r>
          </a:p>
          <a:p>
            <a:r>
              <a:rPr lang="ru-RU" sz="2000" b="1" dirty="0"/>
              <a:t>Дуэль, затем</a:t>
            </a:r>
            <a:r>
              <a:rPr lang="ru-RU" sz="2000" dirty="0"/>
              <a:t> военный суд.</a:t>
            </a:r>
          </a:p>
          <a:p>
            <a:r>
              <a:rPr lang="ru-RU" sz="2000" dirty="0"/>
              <a:t>Повторная ссылка на Кавказ в </a:t>
            </a:r>
            <a:r>
              <a:rPr lang="ru-RU" sz="2000" b="1" dirty="0" err="1"/>
              <a:t>Тенгинский</a:t>
            </a:r>
            <a:r>
              <a:rPr lang="ru-RU" sz="2000" b="1" dirty="0"/>
              <a:t> пехотный полк</a:t>
            </a:r>
            <a:r>
              <a:rPr lang="ru-RU" sz="2000" dirty="0"/>
              <a:t>.</a:t>
            </a:r>
          </a:p>
          <a:p>
            <a:r>
              <a:rPr lang="ru-RU" sz="2000" dirty="0"/>
              <a:t>Проявлена отвага в боях, но император вычеркнул имя из наградных списков.</a:t>
            </a: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549678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9" name="Rectangle 819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 descr="Место дуэли Лермонтова в Пятигорске: история, место, мемориал">
            <a:extLst>
              <a:ext uri="{FF2B5EF4-FFF2-40B4-BE49-F238E27FC236}">
                <a16:creationId xmlns:a16="http://schemas.microsoft.com/office/drawing/2014/main" id="{3679E5B9-11CA-F73A-3731-E0177171CA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8" r="1525" b="-1"/>
          <a:stretch>
            <a:fillRect/>
          </a:stretch>
        </p:blipFill>
        <p:spPr bwMode="auto">
          <a:xfrm>
            <a:off x="1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01" name="Rectangle 820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C5FF1-F0D1-5FDE-D2C2-59FCDA040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3592" y="445512"/>
            <a:ext cx="3652206" cy="1899912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/>
              <a:t>Роковая дуэль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843AB2-49E0-53D3-AE96-A6BA2F3C4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0221" y="2345424"/>
            <a:ext cx="3961890" cy="3742762"/>
          </a:xfrm>
        </p:spPr>
        <p:txBody>
          <a:bodyPr>
            <a:normAutofit/>
          </a:bodyPr>
          <a:lstStyle/>
          <a:p>
            <a:pPr algn="ctr"/>
            <a:r>
              <a:rPr lang="ru-RU" sz="2000" b="1" dirty="0"/>
              <a:t>Май 1841 года:</a:t>
            </a:r>
            <a:r>
              <a:rPr lang="ru-RU" sz="2000" dirty="0"/>
              <a:t> Возвращение на Кавказ.</a:t>
            </a:r>
          </a:p>
          <a:p>
            <a:pPr algn="ctr"/>
            <a:r>
              <a:rPr lang="ru-RU" sz="2000" dirty="0"/>
              <a:t>Пятигорск, лечение на водах.</a:t>
            </a:r>
          </a:p>
          <a:p>
            <a:pPr algn="ctr"/>
            <a:r>
              <a:rPr lang="ru-RU" sz="2000" dirty="0"/>
              <a:t>Ссора с майором </a:t>
            </a:r>
            <a:r>
              <a:rPr lang="ru-RU" sz="2000" b="1" dirty="0"/>
              <a:t>Н.С. Мартыновым</a:t>
            </a:r>
            <a:r>
              <a:rPr lang="ru-RU" sz="2000" dirty="0"/>
              <a:t>.</a:t>
            </a:r>
          </a:p>
          <a:p>
            <a:pPr algn="ctr"/>
            <a:r>
              <a:rPr lang="ru-RU" sz="2000" b="1" dirty="0"/>
              <a:t>15 июля 1841 года</a:t>
            </a:r>
            <a:r>
              <a:rPr lang="ru-RU" sz="2000" dirty="0"/>
              <a:t> — гибель у подножия горы Машук.</a:t>
            </a:r>
          </a:p>
          <a:p>
            <a:pPr algn="ctr"/>
            <a:endParaRPr lang="ru-RU" sz="2000" dirty="0"/>
          </a:p>
        </p:txBody>
      </p:sp>
      <p:pic>
        <p:nvPicPr>
          <p:cNvPr id="4098" name="Picture 2" descr="Мартынов, Николай Соломонович — Википедия">
            <a:extLst>
              <a:ext uri="{FF2B5EF4-FFF2-40B4-BE49-F238E27FC236}">
                <a16:creationId xmlns:a16="http://schemas.microsoft.com/office/drawing/2014/main" id="{E1B2A785-D534-B3A2-B38E-318FE778C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774" b="94575" l="10000" r="90000">
                        <a14:foregroundMark x1="38000" y1="3774" x2="38400" y2="16509"/>
                        <a14:foregroundMark x1="50000" y1="16509" x2="50800" y2="28302"/>
                        <a14:foregroundMark x1="18800" y1="38915" x2="31600" y2="46698"/>
                        <a14:foregroundMark x1="31600" y1="46698" x2="31600" y2="46698"/>
                        <a14:foregroundMark x1="40000" y1="91038" x2="42000" y2="89623"/>
                        <a14:foregroundMark x1="67200" y1="94575" x2="64800" y2="87972"/>
                        <a14:foregroundMark x1="68800" y1="48585" x2="68800" y2="53066"/>
                      </a14:backgroundRemoval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7048" y="1231101"/>
            <a:ext cx="3317747" cy="5626899"/>
          </a:xfrm>
          <a:prstGeom prst="rect">
            <a:avLst/>
          </a:prstGeom>
          <a:noFill/>
          <a:effectLst>
            <a:outerShdw blurRad="50800" dist="38100" dir="18900000" sx="101000" sy="101000" algn="bl" rotWithShape="0">
              <a:prstClr val="black">
                <a:alpha val="65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9138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6497B4-4BDA-EE23-C8B6-E3CD531F9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Интересные факты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FCE795-34C0-D0CE-5CCB-9ED62B90F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Лермонтов приходился дальним родственником Столыпину </a:t>
            </a:r>
          </a:p>
          <a:p>
            <a:pPr algn="ctr"/>
            <a:r>
              <a:rPr lang="ru-RU" dirty="0"/>
              <a:t>Обладал феноменальной памятью и знал несколько языков: французский, немецкий, английский, читал по-грузински.</a:t>
            </a:r>
          </a:p>
          <a:p>
            <a:pPr algn="ctr"/>
            <a:r>
              <a:rPr lang="ru-RU" dirty="0"/>
              <a:t>Был задирой и острословом: почти все его дуэли (кроме последней) происходили из-за злых шуток.</a:t>
            </a:r>
          </a:p>
          <a:p>
            <a:pPr algn="ctr"/>
            <a:r>
              <a:rPr lang="ru-RU" dirty="0"/>
              <a:t>Единственный прижизненный сборник стихов вышел в 1840 году, когда поэт уже был знаменит.</a:t>
            </a:r>
          </a:p>
          <a:p>
            <a:pPr algn="ctr"/>
            <a:r>
              <a:rPr lang="ru-RU" dirty="0"/>
              <a:t>Отзыв Николая I на смерть Лермонтова: «Собаке — собачья смерть».</a:t>
            </a:r>
          </a:p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0697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3FAD6C-D0F3-1CE8-F678-0875E7B92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Лермонтов-художник</a:t>
            </a:r>
            <a:br>
              <a:rPr lang="ru-RU" b="1" dirty="0"/>
            </a:br>
            <a:endParaRPr lang="ru-RU" dirty="0"/>
          </a:p>
        </p:txBody>
      </p:sp>
      <p:pic>
        <p:nvPicPr>
          <p:cNvPr id="9218" name="Picture 2" descr="Михаил Юрьевич Лермонтов - Вид Пятигорска, 1837: Описание произведения |  Артхив">
            <a:extLst>
              <a:ext uri="{FF2B5EF4-FFF2-40B4-BE49-F238E27FC236}">
                <a16:creationId xmlns:a16="http://schemas.microsoft.com/office/drawing/2014/main" id="{E51155B3-B131-0935-490E-01D2ECFCE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999" y="4492978"/>
            <a:ext cx="3013531" cy="220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Лермонтов Михаил Юрьевич. Военно-грузинская дорога близ Мцхета">
            <a:extLst>
              <a:ext uri="{FF2B5EF4-FFF2-40B4-BE49-F238E27FC236}">
                <a16:creationId xmlns:a16="http://schemas.microsoft.com/office/drawing/2014/main" id="{ADA2F2AF-CBC3-EEE3-1BA9-770F7618EC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9310" y="3681942"/>
            <a:ext cx="4876800" cy="301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>
            <a:extLst>
              <a:ext uri="{FF2B5EF4-FFF2-40B4-BE49-F238E27FC236}">
                <a16:creationId xmlns:a16="http://schemas.microsoft.com/office/drawing/2014/main" id="{A835E303-E61D-61CD-62E3-B72A06DB78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938"/>
          <a:stretch>
            <a:fillRect/>
          </a:stretch>
        </p:blipFill>
        <p:spPr bwMode="auto">
          <a:xfrm>
            <a:off x="8488890" y="4182886"/>
            <a:ext cx="3322012" cy="251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6" name="Picture 10">
            <a:extLst>
              <a:ext uri="{FF2B5EF4-FFF2-40B4-BE49-F238E27FC236}">
                <a16:creationId xmlns:a16="http://schemas.microsoft.com/office/drawing/2014/main" id="{A9115986-E8C0-6AEB-A26E-BCC9C74784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9234" y="1114058"/>
            <a:ext cx="3013531" cy="2461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8" name="Picture 12">
            <a:extLst>
              <a:ext uri="{FF2B5EF4-FFF2-40B4-BE49-F238E27FC236}">
                <a16:creationId xmlns:a16="http://schemas.microsoft.com/office/drawing/2014/main" id="{08B8C1C5-059E-835A-1BF5-8D69D8F881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8890" y="1234748"/>
            <a:ext cx="3290112" cy="2801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0" name="Picture 14">
            <a:extLst>
              <a:ext uri="{FF2B5EF4-FFF2-40B4-BE49-F238E27FC236}">
                <a16:creationId xmlns:a16="http://schemas.microsoft.com/office/drawing/2014/main" id="{B7DDA74C-2C62-2611-25A0-41AF06C82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802" y="1813651"/>
            <a:ext cx="3003728" cy="2556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400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A3DCD-329A-5DA8-0129-FA7935FD5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986C59-237F-FD92-3B4C-402032729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Памятники</a:t>
            </a:r>
            <a:br>
              <a:rPr lang="ru-RU" b="1" dirty="0"/>
            </a:br>
            <a:endParaRPr lang="ru-RU" dirty="0"/>
          </a:p>
        </p:txBody>
      </p:sp>
      <p:pic>
        <p:nvPicPr>
          <p:cNvPr id="11268" name="Picture 4" descr="Памятник М.Ю. Лермонтову в Пятигорске. Подробная информация: расписание,  фото, адрес и т. д. на официальном сайте Культура.РФ">
            <a:extLst>
              <a:ext uri="{FF2B5EF4-FFF2-40B4-BE49-F238E27FC236}">
                <a16:creationId xmlns:a16="http://schemas.microsoft.com/office/drawing/2014/main" id="{B44D67D7-E8E2-A483-9A9D-CCC2ECEC2E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167"/>
          <a:stretch>
            <a:fillRect/>
          </a:stretch>
        </p:blipFill>
        <p:spPr bwMode="auto">
          <a:xfrm>
            <a:off x="0" y="1544610"/>
            <a:ext cx="4129873" cy="531339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F90F64-0EB7-83D9-53E6-A6257B84954E}"/>
              </a:ext>
            </a:extLst>
          </p:cNvPr>
          <p:cNvSpPr txBox="1"/>
          <p:nvPr/>
        </p:nvSpPr>
        <p:spPr>
          <a:xfrm>
            <a:off x="1333806" y="1136690"/>
            <a:ext cx="1462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г. Пятигорск</a:t>
            </a:r>
          </a:p>
        </p:txBody>
      </p:sp>
      <p:pic>
        <p:nvPicPr>
          <p:cNvPr id="11270" name="Picture 6" descr="Памятник М.Ю Лермонтову история, легенда. Как добраться и где находится.  Все о памятнике М.Ю Лермонтову Кисловодск | | Официальный сайт ToTrip.info">
            <a:extLst>
              <a:ext uri="{FF2B5EF4-FFF2-40B4-BE49-F238E27FC236}">
                <a16:creationId xmlns:a16="http://schemas.microsoft.com/office/drawing/2014/main" id="{F0636FE6-A3C1-AFF9-2716-9DC9ADDB4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996" y="1710568"/>
            <a:ext cx="7680004" cy="514743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90FED4-C591-8ADB-9CC8-E016747A8319}"/>
              </a:ext>
            </a:extLst>
          </p:cNvPr>
          <p:cNvSpPr txBox="1"/>
          <p:nvPr/>
        </p:nvSpPr>
        <p:spPr>
          <a:xfrm>
            <a:off x="8062129" y="1321356"/>
            <a:ext cx="1628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г. Кисловодск</a:t>
            </a:r>
          </a:p>
        </p:txBody>
      </p:sp>
    </p:spTree>
    <p:extLst>
      <p:ext uri="{BB962C8B-B14F-4D97-AF65-F5344CB8AC3E}">
        <p14:creationId xmlns:p14="http://schemas.microsoft.com/office/powerpoint/2010/main" val="541336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6" name="Picture 6" descr="Лермонтов М. Белеет парус одинокий (Азбука-классика) заказать в  Санкт-Петербурге — купить книгу почтой в интернет-магазине «Слово»">
            <a:extLst>
              <a:ext uri="{FF2B5EF4-FFF2-40B4-BE49-F238E27FC236}">
                <a16:creationId xmlns:a16="http://schemas.microsoft.com/office/drawing/2014/main" id="{8F811ECA-DD1E-EB25-9508-724A250B3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3437" y="430861"/>
            <a:ext cx="2269513" cy="3579674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65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 descr="Бородино» Лермонтов Михаил Юрьевич - описание книги | Эксклюзив: Русская  классика | Издательство АСТ">
            <a:extLst>
              <a:ext uri="{FF2B5EF4-FFF2-40B4-BE49-F238E27FC236}">
                <a16:creationId xmlns:a16="http://schemas.microsoft.com/office/drawing/2014/main" id="{B325F384-F369-FFFF-B3B0-750468629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9645" y="2302692"/>
            <a:ext cx="1656857" cy="2592494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65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77FFF3-2AD5-8902-2467-997B1EBCA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Наследие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A3FFC5-7EA9-3228-3723-E7A668CAD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67813" cy="4351338"/>
          </a:xfrm>
        </p:spPr>
        <p:txBody>
          <a:bodyPr>
            <a:normAutofit/>
          </a:bodyPr>
          <a:lstStyle/>
          <a:p>
            <a:r>
              <a:rPr lang="ru-RU" sz="2400" b="1" dirty="0"/>
              <a:t>«Герой нашего времени»</a:t>
            </a:r>
            <a:r>
              <a:rPr lang="ru-RU" sz="2400" dirty="0"/>
              <a:t> — первый психологический роман в русской прозе.</a:t>
            </a:r>
          </a:p>
          <a:p>
            <a:r>
              <a:rPr lang="ru-RU" sz="2400" b="1" dirty="0"/>
              <a:t>«Мцыри»</a:t>
            </a:r>
            <a:r>
              <a:rPr lang="ru-RU" sz="2400" dirty="0"/>
              <a:t>, </a:t>
            </a:r>
            <a:r>
              <a:rPr lang="ru-RU" sz="2400" b="1" dirty="0"/>
              <a:t>«Демон»</a:t>
            </a:r>
            <a:r>
              <a:rPr lang="ru-RU" sz="2400" dirty="0"/>
              <a:t>, </a:t>
            </a:r>
            <a:r>
              <a:rPr lang="ru-RU" sz="2400" b="1" dirty="0"/>
              <a:t>«Парус»</a:t>
            </a:r>
            <a:r>
              <a:rPr lang="ru-RU" sz="2400" dirty="0"/>
              <a:t>, </a:t>
            </a:r>
            <a:r>
              <a:rPr lang="ru-RU" sz="2400" b="1" dirty="0"/>
              <a:t>«Бородино»</a:t>
            </a:r>
            <a:r>
              <a:rPr lang="ru-RU" sz="2400" dirty="0"/>
              <a:t>.</a:t>
            </a:r>
          </a:p>
          <a:p>
            <a:r>
              <a:rPr lang="ru-RU" sz="2400" dirty="0"/>
              <a:t>Вклад Лермонтова: </a:t>
            </a:r>
            <a:r>
              <a:rPr lang="ru-RU" sz="2400" b="1" dirty="0"/>
              <a:t>поэзия романтизма, философская лирика, реализм в прозе</a:t>
            </a:r>
            <a:r>
              <a:rPr lang="ru-RU" sz="2400" dirty="0"/>
              <a:t>.</a:t>
            </a:r>
          </a:p>
          <a:p>
            <a:endParaRPr lang="ru-RU" sz="2000" dirty="0"/>
          </a:p>
        </p:txBody>
      </p:sp>
      <p:pic>
        <p:nvPicPr>
          <p:cNvPr id="10242" name="Picture 2" descr="Герой нашего времени - читать онлайн на Свет">
            <a:extLst>
              <a:ext uri="{FF2B5EF4-FFF2-40B4-BE49-F238E27FC236}">
                <a16:creationId xmlns:a16="http://schemas.microsoft.com/office/drawing/2014/main" id="{8744B995-D003-7879-0F1C-D55D0B887A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3926" y="1690688"/>
            <a:ext cx="3015475" cy="4534234"/>
          </a:xfrm>
          <a:prstGeom prst="rect">
            <a:avLst/>
          </a:prstGeom>
          <a:noFill/>
          <a:effectLst>
            <a:outerShdw blurRad="25400" sx="102000" sy="102000" algn="ctr" rotWithShape="0">
              <a:prstClr val="black">
                <a:alpha val="6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Книги-юбиляры: поэме «Мцыри» М. Ю. Лермонтова – 180 лет - Национальная  библиотека им. А. С. Пушкина Республики Мордовия">
            <a:extLst>
              <a:ext uri="{FF2B5EF4-FFF2-40B4-BE49-F238E27FC236}">
                <a16:creationId xmlns:a16="http://schemas.microsoft.com/office/drawing/2014/main" id="{3688BBA4-CAD2-5469-30D2-5B4A63E09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693" b="94828" l="6167" r="95417">
                        <a14:foregroundMark x1="9917" y1="11015" x2="27583" y2="73946"/>
                        <a14:foregroundMark x1="27583" y1="73946" x2="53667" y2="84004"/>
                        <a14:foregroundMark x1="53667" y1="84004" x2="76417" y2="58716"/>
                        <a14:foregroundMark x1="76417" y1="58716" x2="67500" y2="23180"/>
                        <a14:foregroundMark x1="67500" y1="23180" x2="23000" y2="11111"/>
                        <a14:foregroundMark x1="23000" y1="11111" x2="12167" y2="13218"/>
                        <a14:foregroundMark x1="12167" y1="13218" x2="12083" y2="13793"/>
                        <a14:foregroundMark x1="6333" y1="9195" x2="14000" y2="91954"/>
                        <a14:foregroundMark x1="14000" y1="91954" x2="45917" y2="94157"/>
                        <a14:foregroundMark x1="45917" y1="94157" x2="89750" y2="91379"/>
                        <a14:foregroundMark x1="89750" y1="91379" x2="89167" y2="14751"/>
                        <a14:foregroundMark x1="89167" y1="14751" x2="76167" y2="5077"/>
                        <a14:foregroundMark x1="76167" y1="5077" x2="11167" y2="6992"/>
                        <a14:foregroundMark x1="11167" y1="6992" x2="7833" y2="8812"/>
                        <a14:foregroundMark x1="26583" y1="87452" x2="43250" y2="88985"/>
                        <a14:foregroundMark x1="43250" y1="88985" x2="56167" y2="88314"/>
                        <a14:foregroundMark x1="36667" y1="94828" x2="63917" y2="94349"/>
                        <a14:foregroundMark x1="89917" y1="11303" x2="90583" y2="92720"/>
                        <a14:foregroundMark x1="93500" y1="4789" x2="95417" y2="93199"/>
                        <a14:foregroundMark x1="5083" y1="11398" x2="7250" y2="93295"/>
                        <a14:foregroundMark x1="7250" y1="93295" x2="6167" y2="934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5989" y="4163415"/>
            <a:ext cx="3097526" cy="2694585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6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392728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397</Words>
  <Application>Microsoft Office PowerPoint</Application>
  <PresentationFormat>Широкоэкранный</PresentationFormat>
  <Paragraphs>50</Paragraphs>
  <Slides>12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Тема Office</vt:lpstr>
      <vt:lpstr>Михаил Юрьевич Лермонтов (1814 – 1841)</vt:lpstr>
      <vt:lpstr>Детство </vt:lpstr>
      <vt:lpstr>Начало творческого пути</vt:lpstr>
      <vt:lpstr>Петербург и «злополучные» годы </vt:lpstr>
      <vt:lpstr>«Смерть Поэта» и Первая ссылка</vt:lpstr>
      <vt:lpstr>Возвращение и расцвет </vt:lpstr>
      <vt:lpstr> Дуэль с де Барантом и Вторая ссылка</vt:lpstr>
      <vt:lpstr>Роковая дуэль</vt:lpstr>
      <vt:lpstr>Интересные факты</vt:lpstr>
      <vt:lpstr>Лермонтов-художник </vt:lpstr>
      <vt:lpstr>Памятники </vt:lpstr>
      <vt:lpstr>Наследие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Роман</dc:creator>
  <cp:lastModifiedBy>Роман</cp:lastModifiedBy>
  <cp:revision>5</cp:revision>
  <dcterms:created xsi:type="dcterms:W3CDTF">2026-02-26T13:26:57Z</dcterms:created>
  <dcterms:modified xsi:type="dcterms:W3CDTF">2026-02-26T21:23:31Z</dcterms:modified>
</cp:coreProperties>
</file>